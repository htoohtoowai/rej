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3448124"/>
            <a:ext cx="173926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96" kern="0" dirty="0">
                <a:solidFill>
                  <a:srgbClr val="F59E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SCREEN SPECIFICATION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238250" y="4000574"/>
            <a:ext cx="17392650" cy="855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929"/>
              </a:lnSpc>
              <a:buNone/>
            </a:pPr>
            <a:r>
              <a:rPr lang="en-US" sz="58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LENZ Connect 画面仕様書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238250" y="5084490"/>
            <a:ext cx="1157668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33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賃貸業者間流通プラットフォーム（tp-goodlife）／ 全38画面・63画面状態。各スライドに画面イメージと目的・利用シーンを記載しています。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38250" y="6372151"/>
            <a:ext cx="1706984" cy="466725"/>
          </a:xfrm>
          <a:prstGeom prst="roundRect">
            <a:avLst>
              <a:gd name="adj" fmla="val 20408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409700" y="6467401"/>
            <a:ext cx="144028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38画面 / 63状態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78584" y="6372151"/>
            <a:ext cx="877491" cy="466725"/>
          </a:xfrm>
          <a:prstGeom prst="roundRect">
            <a:avLst>
              <a:gd name="adj" fmla="val 2040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50034" y="6467401"/>
            <a:ext cx="61079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 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089425" y="6372151"/>
            <a:ext cx="1368996" cy="466725"/>
          </a:xfrm>
          <a:prstGeom prst="roundRect">
            <a:avLst>
              <a:gd name="adj" fmla="val 2040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260875" y="6467401"/>
            <a:ext cx="11022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 33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91770" y="6372151"/>
            <a:ext cx="1368996" cy="466725"/>
          </a:xfrm>
          <a:prstGeom prst="roundRect">
            <a:avLst>
              <a:gd name="adj" fmla="val 2040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63220" y="6467401"/>
            <a:ext cx="11022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 23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4116" y="6372151"/>
            <a:ext cx="1526307" cy="466725"/>
          </a:xfrm>
          <a:prstGeom prst="roundRect">
            <a:avLst>
              <a:gd name="adj" fmla="val 20408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265566" y="6467401"/>
            <a:ext cx="12596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JP / EN 2言語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8250" y="9525000"/>
            <a:ext cx="43816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LENZ DX Co., Ltd. · tp-goodlife · v1.0 · 2026/08/24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4175299"/>
            <a:ext cx="17392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4646786"/>
            <a:ext cx="17392650" cy="9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238250" y="5727874"/>
            <a:ext cx="125730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7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認証・アカウント・通知・エラー — 全ユーザー共通の土台（5画面 / 7状態）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ログイン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全ユーザーの入口。会社メールアドレスとパスワードで認証し、役割（管理会社／仲介会社）に応じたホームへ振り分ける。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始業時のサインイン。パスワード失念時の再設定導線もここから。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jp/common/01-login.html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MFA 認証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 Verification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ログイン後の二段階認証。6桁のワンタイムコードで本人性を確認する。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新しい端末・ブラウザからのログイン時、および管理者権限アカウントの毎回ログイン時。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jp/common/02-mfa.html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アカウント設定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Settings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プロフィール・通知設定・パスワード・言語（JP/EN）・連携アプリを本人が管理する。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担当変更・連絡先更新時、通知が多すぎる／届かない際の調整。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jp/common/03-account-settings.html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通知センター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 Center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申込・内見・出稿エラー・チャットなど全通知を日付順に集約し、未読管理と該当画面への遷移を提供する。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朝一の未読確認、出稿エラー発生時の一次受け。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jp/common/04-notifications.html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C5.1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404 ページが見つかりません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404 Not Found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存在しない／削除済みURLへのアクセス時に、原因と復帰導線を提示する。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古いブックマーク、削除済み物件URLの共有リンクを開いたとき。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jp/common/05-error-404.html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C5.2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500 サーバーエラー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Server Error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サーバー側障害の発生をエラーIDとともに提示し、問い合わせ導線を示す。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外部連携・ジョブ基盤の一時障害時。エラーIDをサポートへ連絡。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jp/common/05-error-500.html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C5.3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403 アクセス権限なし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403 Access Denied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183005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00150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6111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27825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権限のない機能・物件へのアクセスを拒否し、必要な権限と申請先を示す。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閲覧のみロールが出稿・承認画面を開いたとき、他社物件の直リンクを踏んだとき。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jp/common/05-error-403.html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4175299"/>
            <a:ext cx="17392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4646786"/>
            <a:ext cx="17392650" cy="9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238250" y="5727874"/>
            <a:ext cx="125730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7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物件登録から出稿・内見・申込審査まで — 管理会社の業務基幹（20画面 / 33状態）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ダッシュボード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当日の要対応（申込・内見・出稿エラー・期限）を1画面に集約し、着手順を判断する。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始業時の状況把握。数字ではなく「今日やること」を起点にした導線。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jp/management/01-dashboard.html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物件一覧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List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保有物件を条件検索・絞り込みし、掲載状態と入力充足度を一覧で把握。編集・出稿・一括操作の起点。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3,600件規模から対象を絞る日常業務。空室・掲載停止中・入力不備の抽出。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jp/management/02-property-list.html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M2.a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物件削除モーダル (1件)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Property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物件1件のアーカイブ確認。物件名タイプ入力による誤操作防止と、出稿の自動停止を明示する。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重複登録・登録ミスの整理。申込が紐づく物件は削除ガードで阻止。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jp/management/02-property-list-delete-modal.html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M2.b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一括削除モーダル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Bulk Delete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複数物件の一括アーカイブ。削除可能件数・除外件数（ガード）を明示してから実行する。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棟単位の管理終了、年度末の一括整理。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jp/management/02-property-list-bulk-delete-modal.html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M3.1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物件新規 — 基本情報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Property — Basics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物件名・種別・築年月・構造など最小の基本情報を登録する第1段階。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新規受託時の初回登録。西暦／和暦の切替に対応。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jp/management/03-property-create-step1-basics.html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M3.2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物件新規 — 住所・交通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Property — Address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住所と地図座標、複数路線の最寄駅・徒歩分数を登録する第2段階。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郵便番号からの住所補完、路線を追加行で複数登録。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jp/management/03-property-create-step2-address.html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M3.3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物件新規 — 確認・登録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Property — Confirm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入力内容の最終確認と登録実行。登録後の次アクション（部屋・画像・出稿）を提示する。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登録完了後そのまま編集画面へ進む導線。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jp/management/03-property-create-step3-confirm.html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概要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Overview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物件編集のハブ。掲載状態・入力充足・画像スコア・不備警告を俯瞰し、各編集タブへ分岐する。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日々のメンテナンス起点。固定ツールバーで保存・破棄・削除を常時操作可能。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jp/management/04-property-edit-overview.html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M4.a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 – 変更を保存モーダル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– Save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変更内容の確認と、掲載中媒体への同期可否を選択して保存する。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賃料改定など掲載中物件の変更時。媒体反映のタイミングを制御。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jp/management/04-property-edit-save-modal.html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M4.b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 – 物件削除モーダル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– Delete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編集画面からのアーカイブ確認。進行中の申込がある場合は削除をブロックする。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管理契約終了時。データは保持され復元可能。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jp/management/04-property-edit-delete-modal.html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M4.c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編集 – 変更破棄モーダル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– Discard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未保存の変更を破棄して離脱する確認。破棄対象の項目数を明示する。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誤編集の取り消し、他画面への離脱時の引き止め。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jp/management/04-property-edit-discard-modal.html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建物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Building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棟単位の情報（構造・階数・総戸数・駐車場・交通）を編集する。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棟情報の一括更新。全部屋に共通反映される項目を集約。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jp/management/05-property-edit-building.html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M5b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部屋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Room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部屋単位の情報（間取り・面積・向き・階・現況）を編集する。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退去・入居に伴う現況更新。立会後の内装状況の反映もここ。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jp/management/05b-property-edit-room.html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取引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Transaction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賃料・共益費・敷礼・広告料・取引態様・入居条件など取引条件を編集する。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賃料改定、AD変更、オンライン内見／申込の可否設定。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jp/management/06-property-edit-transaction.html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掲載情報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Listing Info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媒体別（SUUMO／HOME'S／アットホーム／レインズ等）のキャッチコピー・紹介文・必須項目を編集する。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出稿前の媒体別チューニング。媒体ごとの文字数・必須項目チェック。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jp/management/07-property-edit-listing-info.html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画像 (36ポイント)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Images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物件画像の登録・並べ替え・カテゴリ付与と、36点スコアによる充足判定を行う。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出稿の前提条件。スコア不足のままでは出稿コントロールがブロックされる。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jp/management/08-property-edit-images.html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M9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物件編集 – パノラマ / 動画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Property – Panorama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360°パノラマ・動画コンテンツの登録と、掲載媒体チャネルごとの公開可否を設定する。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オンライン内見・遠隔検討層への訴求強化。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jp/management/09-property-edit-panorama.html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設備編集モーダル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Equipment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カテゴリ別の設備マスタからチェック方式で設備を一括設定する。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設備は媒体の検索条件に直結。抜け漏れが反響数に影響するため一覧で確認。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jp/management/10-equipment-modal.html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出稿コントロール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Controls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14357077" y="2264271"/>
            <a:ext cx="1428750" cy="41433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4"/>
          <p:cNvSpPr/>
          <p:nvPr/>
        </p:nvSpPr>
        <p:spPr>
          <a:xfrm>
            <a:off x="14528527" y="2340471"/>
            <a:ext cx="116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高リスク操作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3388221"/>
            <a:ext cx="6867525" cy="1056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媒体ごとの出稿状態を一元管理。3条件の安全ゲート（必須項目・画像スコア・取引条件）を満たすまで出稿ボタンを無効化する。★高リスク操作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049000" y="476837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1049000" y="511604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新規掲載・再掲載・非掲載の切替。誤出稿は媒体側の反響と信用に直結。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jp/management/11-publish-controls.html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M11.b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出稿停止モーダル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Unpublish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掲載中媒体からの取り下げ確認。対象媒体と反映見込み時間を提示する。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成約時・募集停止時の即時取り下げ。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jp/management/11-publish-unpublish-modal.html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内見予約 一覧+カレンダー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List + Calendar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307827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104112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MVP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内見予約を週カレンダー／リストの両ビューで管理し、受付・変更・キャンセルを処理する。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仲介会社からの予約受付、鍵手配、重複枠の調整。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jp/management/12-viewing-list-calendar.html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一覧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List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受信した入居申込をステータス別に一覧化し、滞留時間・要対応を可視化する。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審査キューの管理。長期滞留の検知と担当割り当て。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jp/management/13-application-list.html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受信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— Received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申込内容の初回確認。申込者・物件・条件のサマリと受付判断を行う第1段階。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仲介会社からの申込着信直後の一次受け。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jp/management/14-application-detail-step1-received.html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書類確認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— Doc check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提出書類の到着・不備をチェックし、不足書類の追完を依頼する第2段階。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身分証・収入証明の確認。不備は仲介会社へチャットで差し戻し。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jp/management/14-application-detail-step2-doccheck.html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社内審査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— Internal review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社内基準による与信・条件審査。保証会社審査状況と合わせて判断する第3段階。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管理会社内の審査担当が承認可否の一次判断を行う。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jp/management/14-application-detail-step3-review.html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オーナー判定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— Owner review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オーナーへの照会と回答記録。判定結果と条件付き承認の内容を保持する第4段階。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オーナー確認が必要な物件の意思決定記録。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jp/management/14-application-detail-step4-owner.html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承認・契約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— Approved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承認後の契約手続き段階。電子契約の発行状況と契約予定日を管理する第5段階。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GMO Sign 送付、Obic ERP への契約データ書き戻し。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jp/management/14-application-detail-step5-approved.html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99060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M14.c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 アーカイブモーダル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 Application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完了・失注した申込をアーカイブし、一覧から外して履歴として保持する。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成約または取り下げ後の整理。監査ログには記録が残る。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jp/management/14-application-detail-archive-modal.html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承認モーダル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Shape 13"/>
          <p:cNvSpPr/>
          <p:nvPr/>
        </p:nvSpPr>
        <p:spPr>
          <a:xfrm>
            <a:off x="14561939" y="2264271"/>
            <a:ext cx="1428750" cy="41433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7" name="Text 14"/>
          <p:cNvSpPr/>
          <p:nvPr/>
        </p:nvSpPr>
        <p:spPr>
          <a:xfrm>
            <a:off x="14733389" y="2340471"/>
            <a:ext cx="116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92400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高リスク操作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3388221"/>
            <a:ext cx="6867525" cy="1056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申込の最終承認。確認チェックと契約予定日の入力をゲートとし、承認と同時に電子契約・ERP連携・出稿停止を自動実行する。★高リスク操作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1049000" y="476837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21" name="Text 18"/>
          <p:cNvSpPr/>
          <p:nvPr/>
        </p:nvSpPr>
        <p:spPr>
          <a:xfrm>
            <a:off x="11049000" y="511604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終端処理のため取り消し不可。二重確認と監査ログを必須とする。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jp/management/14a-application-approve-modal.html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M14b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否認モーダル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否認または差し戻しの実行。理由選択とコメントを記録し、仲介会社へ通知する。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与信否決、書類不備による差し戻し。理由は統計にも利用。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jp/management/14b-application-reject-modal.html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仲介会社との取引先チャットと社内チャットを1画面で扱う。物件・申込への紐づけに対応。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内見調整、書類の追完依頼、社内の申送り。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jp/management/15-chat.html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CSV エクスポート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Export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物件・申込・内見データの条件指定エクスポートと、テンプレート保存・取り込みを行う。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社内報告、媒体一括入稿、既存システムとのデータ受け渡し。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jp/management/16-csv-export.html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M17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マスタデータ設定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Data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P3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ユーザー・ロール・取引先・設備／条件マスタ・媒体アカウントなど運用設定を管理する。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導入時の初期設定、入退社に伴う権限変更。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jp/management/17-master-data.html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4175299"/>
            <a:ext cx="173926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60" kern="0" dirty="0">
                <a:solidFill>
                  <a:srgbClr val="F59E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8250" y="4646786"/>
            <a:ext cx="17392650" cy="947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9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4950" dirty="0"/>
          </a:p>
        </p:txBody>
      </p:sp>
      <p:sp>
        <p:nvSpPr>
          <p:cNvPr id="5" name="Text 3"/>
          <p:cNvSpPr/>
          <p:nvPr/>
        </p:nvSpPr>
        <p:spPr>
          <a:xfrm>
            <a:off x="1238250" y="5727874"/>
            <a:ext cx="125730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7"/>
              </a:lnSpc>
              <a:buNone/>
            </a:pPr>
            <a:r>
              <a:rPr lang="en-US" sz="195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Connect Square — 検索・内見・申込の仲介会社ポータル（13画面 / 23状態）</a:t>
            </a:r>
            <a:endParaRPr lang="en-US" sz="1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ホーム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仲介会社の入口。検索ショートカット、管理会社からのお知らせ、新着・新築を提示する。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来店対応前の情報確認。KPI偏重をやめ「探す」導線を最短化。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jp/broker/01-home.html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物件検索 (絞り込み)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– Filters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エリア・賃料・間取り・設備・タグなど詳細条件で物件を絞り込む。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来店ヒアリング内容をそのまま条件に落として候補を作る。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jp/broker/02-search-filter.html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物件検索 (地図)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– Map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地図上でのエリア指定・クラスタ表示による物件探索。通勤・通学圏からの検討に対応。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エリア名が定まらない顧客との対面検討。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jp/broker/03-search-map.html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検索結果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Results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高密度テーブルで候補を比較。複数選択して比較パネル・一括資料出力・一括問い合わせを行う。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候補10〜30件から提案3件へ絞り込む実務。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jp/broker/04-search-results.html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物件詳細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Detail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物件情報の中心ハブ。概要／取引条件／設備の3タブ構成で、内見予約・申込・接客モードへ分岐する。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提案物件の詳細確認と、そのまま次アクションへ接続。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jp/broker/05-property-detail.html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接客モード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Customer-Service Mode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顧客に見せる前提の表示モード。業者向け情報（AD・元付情報等）を隠し、写真と条件を大きく提示する。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カウンター・タブレットでの対面提案。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jp/broker/06-customer-mode.html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B7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内見予約 (申込フォーム)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Viewing Booking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空き枠カレンダーから内見日時を選択し、同行者・鍵手配の要否を添えて予約する。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顧客と日程調整しながらその場で確定。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jp/broker/07-viewing-booking.html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5791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3505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B8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 内見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Viewings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自社が予約した内見の一覧と、当日の集合情報・鍵情報・変更／キャンセルを管理する。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当日の案内前確認、複数物件を回るルート確認。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jp/broker/08-my-viewings.html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B8.a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内見キャンセルモーダル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 Viewing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内見予約のキャンセル確認。理由選択と管理会社への通知を伴う。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顧客都合の直前キャンセル。枠は即時開放される。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jp/broker/08-my-viewings-cancel-modal.html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①貴社情報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Your firm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申込元の仲介会社・担当者情報を確認する第1段階。組織情報から自動補完される。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入力負荷の削減。誤りがある場合のみ修正。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jp/broker/09-application-form-step1-applicant.html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②申込種別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Application type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個人／法人、居住用／事業用など申込種別を選択し、以降の入力項目を分岐させる第2段階。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種別により必要書類と審査経路が変わる。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jp/broker/09-application-form-step2-work.html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③契約情報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Contract info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契約開始希望日・入居予定者・同居人・引越理由など契約条件を入力する第3段階。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同居人は行追加方式。条件交渉の内容もここに記載。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jp/broker/09-application-form-step3-emergency.html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B9.4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④保証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Guarantor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保証会社プランの選択、または連帯保証人情報の入力を行う第4段階。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プラン別の初期費用と承認可能性を比較して選択。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jp/broker/09-application-form-step4-guarantor.html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⑤申込者情報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Applicant info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申込者本人の詳細情報と本人確認書類・収入証明のアップロードを行う第5段階。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最も入力量が多い段階。下書き保存に対応。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jp/broker/09-application-form-step5-tenants.html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— (廃止/Step5へ統合)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— Deprecated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旧「書類アップロード」段階。Step 5 に統合済みで、旧URLの互換のみを担う。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既存リンクからの流入時に統合先を案内。実装対象外。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jp/broker/09-application-form-step6-documents.html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85345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62485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B9.d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 下書き破棄モーダル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Discard Draft Modal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モーダル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入力途中の申込下書きを破棄する確認。入力済み項目数とアップロード済み書類を明示する。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顧客都合で申込を取りやめた場合の後始末。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jp/broker/09-application-form-discard-modal.html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入居申込 確認 / 送信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Confirm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全5段階の入力内容を一覧で最終確認し、管理会社へ送信する。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送信後は管理会社側の審査キューへ入り、編集は差し戻し時のみ。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jp/broker/10-application-confirm.html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 申込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Applications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自社が送信した申込の進捗（5段階のどこか）と要対応を追跡する。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089574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437236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顧客への状況報告。滞留案件の督促起点。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jp/broker/11-my-applications.html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12649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B11.a.1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取り下げ — 理由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 — Reason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申込取り下げの理由を選択する第1段階。理由は管理会社側の統計にも反映される。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他物件成約、顧客都合など。最多理由を上位に配置。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jp/broker/11-my-applications-withdraw-step1-reason.html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12649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B11.a.2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取り下げ — 詳細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 — Details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取り下げの補足事項を記入する第2段階。管理会社への申し送りを添える。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再検討の可能性がある場合の意思共有。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jp/broker/11-my-applications-withdraw-step2-details.html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1264965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10363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B11.a.3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取り下げ — 最終確認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 — Confirm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333500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50645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取り下げの最終確認。取り消し不可である旨と、以降の再申込手順を提示する第3段階。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終端処理のため二重確認を設ける。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jp/broker/11-my-applications-withdraw-step3-confirm.html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 (仲介側)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(Broker side)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管理会社とのチャット。物件・内見・申込に紐づけたスレッドで履歴を残す。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空室確認、内見日程調整、書類の追完連絡。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jp/broker/12-chat.html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477500" cy="102870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67975" y="0"/>
            <a:ext cx="9525" cy="10287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" name="Shape 2"/>
          <p:cNvSpPr/>
          <p:nvPr/>
        </p:nvSpPr>
        <p:spPr>
          <a:xfrm>
            <a:off x="471488" y="2166938"/>
            <a:ext cx="9525000" cy="595312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342900" dist="114300" dir="5400000">
              <a:srgbClr val="0F172A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166938"/>
            <a:ext cx="9525000" cy="59531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49000" y="609600"/>
            <a:ext cx="716310" cy="414338"/>
          </a:xfrm>
          <a:prstGeom prst="roundRect">
            <a:avLst>
              <a:gd name="adj" fmla="val 18391"/>
            </a:avLst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1201400" y="666750"/>
            <a:ext cx="4877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B13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049000" y="1214438"/>
            <a:ext cx="7334250" cy="502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29"/>
              </a:lnSpc>
              <a:buNone/>
            </a:pPr>
            <a:r>
              <a:rPr lang="en-US" sz="315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初期費用シミュレーター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1049000" y="1773734"/>
            <a:ext cx="733425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Cost Calculator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49000" y="2264271"/>
            <a:ext cx="106680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1" name="Text 8"/>
          <p:cNvSpPr/>
          <p:nvPr/>
        </p:nvSpPr>
        <p:spPr>
          <a:xfrm>
            <a:off x="11220450" y="2340471"/>
            <a:ext cx="8001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仲介会社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2192000" y="2264271"/>
            <a:ext cx="704850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3" name="Text 10"/>
          <p:cNvSpPr/>
          <p:nvPr/>
        </p:nvSpPr>
        <p:spPr>
          <a:xfrm>
            <a:off x="12363450" y="2340471"/>
            <a:ext cx="4381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画面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2973050" y="2264271"/>
            <a:ext cx="1150739" cy="414338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13144500" y="2340471"/>
            <a:ext cx="884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7556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優先度 P2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1049000" y="3040559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1275" dirty="0"/>
          </a:p>
        </p:txBody>
      </p:sp>
      <p:sp>
        <p:nvSpPr>
          <p:cNvPr id="17" name="Text 14"/>
          <p:cNvSpPr/>
          <p:nvPr/>
        </p:nvSpPr>
        <p:spPr>
          <a:xfrm>
            <a:off x="11049000" y="3388221"/>
            <a:ext cx="6867525" cy="716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敷金・礼金・保証料・火災保険等を含む初期費用を試算し、顧客共有用URLを発行する。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1049000" y="4428976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230" kern="0" dirty="0">
                <a:solidFill>
                  <a:srgbClr val="94A3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利用シーン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1049000" y="4776639"/>
            <a:ext cx="6867525" cy="377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375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契約前の資金計画説明。条件を変えた複数パターンの比較。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1049000" y="9348788"/>
            <a:ext cx="66675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8"/>
          <p:cNvSpPr/>
          <p:nvPr/>
        </p:nvSpPr>
        <p:spPr>
          <a:xfrm>
            <a:off x="11049000" y="9586913"/>
            <a:ext cx="68675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jp/broker/13-cost-calculator.html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2026-08-24T09:10:53Z</dcterms:created>
  <dcterms:modified xsi:type="dcterms:W3CDTF">2026-08-24T09:10:53Z</dcterms:modified>
</cp:coreProperties>
</file>